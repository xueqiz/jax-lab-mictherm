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3" r:id="rId5"/>
    <p:sldId id="264" r:id="rId6"/>
    <p:sldId id="261" r:id="rId7"/>
    <p:sldId id="260" r:id="rId8"/>
    <p:sldId id="262" r:id="rId9"/>
    <p:sldId id="265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9" autoAdjust="0"/>
    <p:restoredTop sz="94660"/>
  </p:normalViewPr>
  <p:slideViewPr>
    <p:cSldViewPr snapToGrid="0">
      <p:cViewPr>
        <p:scale>
          <a:sx n="66" d="100"/>
          <a:sy n="66" d="100"/>
        </p:scale>
        <p:origin x="3864" y="21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D28236-4A56-752F-9C8C-ECF2339C88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161DCBF-196D-5441-B29B-FAA15FE368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9982E5-0F5D-2615-063C-E1900D6B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1A18A0-938F-BCEC-6A57-45807A756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F91548-0C14-0FD6-8768-B30EA123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9058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5E6832-868B-7B5B-4226-1CB1BEA66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7A091E-38F6-CE7F-5E7E-EF1DA216A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3DE068-4388-6DFA-FAB3-EB3AD59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358758-5C6E-5C5C-EE90-08A4ED396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FCD359-2FD3-C13E-9181-E2AB4782E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3676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EAC9C-57F3-E91B-DF01-9BFB7E509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E7E8C2-AA08-70BB-1FAC-C0AB07408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698A7C-3381-1F8B-3B0E-4E069BE89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EF8C4E-2026-D04E-5ABF-FF046709F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11CC93D-C404-A2BB-4D95-C4C0AE1B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241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7F7FFE-401B-FD34-F19E-8584F19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D9B39F-8378-BCD9-36BE-174744DDD1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4152711-7860-019C-E52F-754294E7C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20458B-4D95-EC8E-20F9-D39BF7C14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7EE2A8F-B509-D6B6-3A57-00E1240C1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89D28D0-7249-43E1-CA06-AD768E8C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99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F7F79-3332-CD81-77EB-157E78796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AB5D0A-C75E-9692-D4DC-6E07B812B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8428D3-6346-5AA3-B19C-C85BF590B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B33FD-4C8B-9126-7F21-45633A17D8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2B501AB-42B2-51A5-E630-3A67B26014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580C7BB-4184-3909-1A73-DD77FFE4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203A6AE-7C0E-38EE-6343-64CF9B7AB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9F76AD0-E724-427B-05BB-50BEFB7A7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5612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E0CDB6-8EDF-CFB2-F928-3CB757928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22A3AD-B559-ADDC-1ECB-34A086E3A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B179CD7-BF1C-0518-B887-5363F8A91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0BDF4A-4D82-F59E-6D87-ACDE29167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984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09DA4CD-A2D5-5F24-CCD0-76BC833F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C0EFD4-65A5-FAA2-D186-24925FB0D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1D443A-6AD0-2B8A-DBF9-9B89271A9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1371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076D2C-FAB0-B337-1055-8070A4E6C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9F20A4-6C8E-9042-C109-79C76964E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D670A6-6E13-3E9A-7196-1F11F5255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59073D2-A999-1A5C-6E42-0D2E85E5A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2E3C225-B9E7-2511-1AC8-4FE6AB68E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ABE2E2-21BA-7C4E-EB63-5CB28FDC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42585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74B13B-8E17-1EA7-ECB9-F14BD7A93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D8379C7-CAFD-08E6-64B9-6BBA50914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807D76A-1705-DC3A-2535-C5B0C2C97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BA435E-8EC6-D357-04EB-737D7C84F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B9B3109-ED8C-A4C0-8E43-027AEABF6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A064C7-5A44-1881-CEBB-A80BD96FD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0770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4CFD35-49BB-FB38-F578-86D94C4B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278ACE-AC24-BD83-73F2-D48808AB1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EF7F8B-9540-EF83-5D97-143FA30D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BC8DD3-4377-38BF-B71A-5D5BEDC36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ACBE7C-F30D-CBF5-5AE8-BF8A57352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768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18144C8-E420-4A14-9A2E-FB319A0C75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67A82C4-08C0-6559-A569-6CC9498E10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575063-5CC1-E06F-7CDB-79772B9CB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508F39F-3FEB-1B11-5ECE-1EF509C3B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8FCEC66-4A3E-E90B-C544-331255CF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7298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1F0B34D-0088-83CA-AC5E-93D0BEFF0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DA1DE71-4470-8C31-AC9E-C02F61358E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C491BA-4CFB-B57D-AC41-6DC8BD0F6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4F0CAF-414C-4E39-B97D-01C70ED44220}" type="datetimeFigureOut">
              <a:rPr lang="de-DE" smtClean="0"/>
              <a:t>03.07.2026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4504DC-55D4-1884-2A9C-A0973412DD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2E25BA-D2A4-0B8B-B51F-C76D083143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3666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4"/><Relationship Id="rId7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6.png"/><Relationship Id="rId5" Type="http://schemas.microsoft.com/office/2007/relationships/media" Target="../media/media3.mp4"/><Relationship Id="rId10" Type="http://schemas.openxmlformats.org/officeDocument/2006/relationships/image" Target="../media/image5.png"/><Relationship Id="rId4" Type="http://schemas.openxmlformats.org/officeDocument/2006/relationships/video" Target="../media/media2.mp4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arxiv.org/abs/2205.00686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hyperlink" Target="https://www.hindawi.com/journals/geofluids/2021/5668743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8AD4ED-D0D7-381C-4C6D-DB191D9150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MicTherm</a:t>
            </a:r>
            <a:r>
              <a:rPr lang="de-DE" dirty="0"/>
              <a:t> – LBM Coupling Idea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FDB3B09-1192-DCF7-38A4-F05ED76E9D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95196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4047D-10CA-C2AA-EECE-37740E103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Thermodynamic Consistency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2E4B9B2-8742-D1A9-0A5F-701F13F10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54" y="1690688"/>
            <a:ext cx="2688640" cy="2351892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4466B87-0C05-CD0E-3C58-272139B6A8F2}"/>
              </a:ext>
            </a:extLst>
          </p:cNvPr>
          <p:cNvSpPr txBox="1"/>
          <p:nvPr/>
        </p:nvSpPr>
        <p:spPr>
          <a:xfrm>
            <a:off x="3890210" y="1864896"/>
            <a:ext cx="64749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Idee: Comparison of coexistence densities versus reduced temperature derived from Lattice Boltzmann simulations with predictions from the Maxwell construction for Van der Waals (and </a:t>
            </a:r>
            <a:r>
              <a:rPr lang="en-US" dirty="0" err="1"/>
              <a:t>Carnhan</a:t>
            </a:r>
            <a:r>
              <a:rPr lang="en-US" dirty="0"/>
              <a:t>-Starling (CS))  from </a:t>
            </a:r>
            <a:r>
              <a:rPr lang="en-US" dirty="0" err="1"/>
              <a:t>MicTherm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317EDF5-4BC9-3E18-55EB-FDE55BF1F6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8" r="-1"/>
          <a:stretch/>
        </p:blipFill>
        <p:spPr>
          <a:xfrm>
            <a:off x="415090" y="4140984"/>
            <a:ext cx="5143500" cy="231238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0F25D0A-1801-6CD9-3C49-A7DEF421F0FC}"/>
              </a:ext>
            </a:extLst>
          </p:cNvPr>
          <p:cNvSpPr txBox="1"/>
          <p:nvPr/>
        </p:nvSpPr>
        <p:spPr>
          <a:xfrm>
            <a:off x="3940342" y="3146445"/>
            <a:ext cx="196771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Substance: test fluid </a:t>
            </a:r>
            <a:r>
              <a:rPr lang="en-US" sz="1400" baseline="30000" dirty="0"/>
              <a:t>[1]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(CS)</a:t>
            </a:r>
          </a:p>
          <a:p>
            <a:r>
              <a:rPr lang="en-US" sz="1400" dirty="0"/>
              <a:t>Aggregate: liquid + gas</a:t>
            </a:r>
          </a:p>
          <a:p>
            <a:r>
              <a:rPr lang="en-US" sz="1400" dirty="0"/>
              <a:t>Special boundary: no</a:t>
            </a:r>
          </a:p>
        </p:txBody>
      </p:sp>
      <p:sp>
        <p:nvSpPr>
          <p:cNvPr id="9" name="Textfeld 9">
            <a:extLst>
              <a:ext uri="{FF2B5EF4-FFF2-40B4-BE49-F238E27FC236}">
                <a16:creationId xmlns:a16="http://schemas.microsoft.com/office/drawing/2014/main" id="{B10FC117-C36F-DFFC-4EE2-630A1FC69E6F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https://pubs.aip.org/pof/article/18/4/042101/915484/Equations-of-state-in-a-lattice-Boltzmann-model.	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679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6677EB-976D-BD09-136E-CB0748BD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: Moving droplet 2D </a:t>
            </a:r>
          </a:p>
        </p:txBody>
      </p:sp>
      <p:pic>
        <p:nvPicPr>
          <p:cNvPr id="11" name="Lineprofil">
            <a:hlinkClick r:id="" action="ppaction://media"/>
            <a:extLst>
              <a:ext uri="{FF2B5EF4-FFF2-40B4-BE49-F238E27FC236}">
                <a16:creationId xmlns:a16="http://schemas.microsoft.com/office/drawing/2014/main" id="{7AE07552-EE52-BC13-F0DE-5C6875B3D06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1751" y="4237850"/>
            <a:ext cx="2216857" cy="25070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Density_Profil">
            <a:hlinkClick r:id="" action="ppaction://media"/>
            <a:extLst>
              <a:ext uri="{FF2B5EF4-FFF2-40B4-BE49-F238E27FC236}">
                <a16:creationId xmlns:a16="http://schemas.microsoft.com/office/drawing/2014/main" id="{0B8143DD-5907-0478-D058-D8E6FF2756E7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rcRect l="30506" t="15118" r="30394" b="18215"/>
          <a:stretch/>
        </p:blipFill>
        <p:spPr>
          <a:xfrm>
            <a:off x="417311" y="1468784"/>
            <a:ext cx="2601532" cy="2496064"/>
          </a:xfrm>
          <a:prstGeom prst="rect">
            <a:avLst/>
          </a:prstGeom>
        </p:spPr>
      </p:pic>
      <p:pic>
        <p:nvPicPr>
          <p:cNvPr id="13" name="Pressure_Profil">
            <a:hlinkClick r:id="" action="ppaction://media"/>
            <a:extLst>
              <a:ext uri="{FF2B5EF4-FFF2-40B4-BE49-F238E27FC236}">
                <a16:creationId xmlns:a16="http://schemas.microsoft.com/office/drawing/2014/main" id="{D438C97D-F0F5-FEC8-B7A9-21FE30EE38BE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/>
          <a:srcRect l="30585" t="15052" r="30210" b="14712"/>
          <a:stretch/>
        </p:blipFill>
        <p:spPr>
          <a:xfrm>
            <a:off x="3271054" y="1468784"/>
            <a:ext cx="2472924" cy="249292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9E010D96-38F3-D219-A5E8-ADCF2521089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06" t="15278" r="30150" b="15185"/>
          <a:stretch/>
        </p:blipFill>
        <p:spPr>
          <a:xfrm>
            <a:off x="3241274" y="4239863"/>
            <a:ext cx="2502704" cy="2476325"/>
          </a:xfrm>
          <a:prstGeom prst="rect">
            <a:avLst/>
          </a:prstGeom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B4FF9F8-3939-4A78-7869-F4854F40B0F4}"/>
              </a:ext>
            </a:extLst>
          </p:cNvPr>
          <p:cNvCxnSpPr>
            <a:cxnSpLocks/>
          </p:cNvCxnSpPr>
          <p:nvPr/>
        </p:nvCxnSpPr>
        <p:spPr>
          <a:xfrm flipH="1">
            <a:off x="4492626" y="1403795"/>
            <a:ext cx="13485" cy="53767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3402AF2-C970-A826-E5D4-F30E11AEA744}"/>
              </a:ext>
            </a:extLst>
          </p:cNvPr>
          <p:cNvSpPr txBox="1"/>
          <p:nvPr/>
        </p:nvSpPr>
        <p:spPr>
          <a:xfrm>
            <a:off x="508720" y="1809482"/>
            <a:ext cx="798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vapor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0F3D2A-BA06-2015-CC76-2B1F5DA94B97}"/>
              </a:ext>
            </a:extLst>
          </p:cNvPr>
          <p:cNvSpPr txBox="1"/>
          <p:nvPr/>
        </p:nvSpPr>
        <p:spPr>
          <a:xfrm>
            <a:off x="1374646" y="2530578"/>
            <a:ext cx="798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liquid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6893D27-43C5-4B12-6A83-65AB8DEA9F0A}"/>
              </a:ext>
            </a:extLst>
          </p:cNvPr>
          <p:cNvSpPr/>
          <p:nvPr/>
        </p:nvSpPr>
        <p:spPr>
          <a:xfrm>
            <a:off x="1429201" y="4539802"/>
            <a:ext cx="367048" cy="187387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596E4E6-47ED-7810-A98C-1BCBA503D843}"/>
              </a:ext>
            </a:extLst>
          </p:cNvPr>
          <p:cNvCxnSpPr>
            <a:cxnSpLocks/>
          </p:cNvCxnSpPr>
          <p:nvPr/>
        </p:nvCxnSpPr>
        <p:spPr>
          <a:xfrm flipH="1">
            <a:off x="704643" y="4894557"/>
            <a:ext cx="212396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feil: nach unten 19">
            <a:extLst>
              <a:ext uri="{FF2B5EF4-FFF2-40B4-BE49-F238E27FC236}">
                <a16:creationId xmlns:a16="http://schemas.microsoft.com/office/drawing/2014/main" id="{BDEE6AA8-6D9D-1371-07A9-44D7B5D9C897}"/>
              </a:ext>
            </a:extLst>
          </p:cNvPr>
          <p:cNvSpPr/>
          <p:nvPr/>
        </p:nvSpPr>
        <p:spPr>
          <a:xfrm rot="5400000">
            <a:off x="1548331" y="4935712"/>
            <a:ext cx="283335" cy="5215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ABD6E1A1-F36C-4E57-C7EB-839928BAF7A9}"/>
              </a:ext>
            </a:extLst>
          </p:cNvPr>
          <p:cNvSpPr txBox="1"/>
          <p:nvPr/>
        </p:nvSpPr>
        <p:spPr>
          <a:xfrm>
            <a:off x="5979894" y="1440150"/>
            <a:ext cx="57947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Idee: Droplet moves due temperature difference in the simulation </a:t>
            </a:r>
            <a:r>
              <a:rPr lang="en-US" dirty="0" err="1"/>
              <a:t>szenario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2148C3B1-F385-8764-C3FF-1EFAB637C7D5}"/>
              </a:ext>
            </a:extLst>
          </p:cNvPr>
          <p:cNvSpPr txBox="1"/>
          <p:nvPr/>
        </p:nvSpPr>
        <p:spPr>
          <a:xfrm>
            <a:off x="6011471" y="2226611"/>
            <a:ext cx="32944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 dirty="0"/>
              <a:t>Special boundary: temperature gradient </a:t>
            </a:r>
          </a:p>
        </p:txBody>
      </p:sp>
    </p:spTree>
    <p:extLst>
      <p:ext uri="{BB962C8B-B14F-4D97-AF65-F5344CB8AC3E}">
        <p14:creationId xmlns:p14="http://schemas.microsoft.com/office/powerpoint/2010/main" val="947430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1.11111E-6 L -0.03398 1.11111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6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604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20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1" dur="604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22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604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3.33333E-6 L -2.70833E-6 0.10417 " pathEditMode="relative" rAng="0" ptsTypes="AA">
                                      <p:cBhvr>
                                        <p:cTn id="25" dur="8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5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4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video>
              <p:cMediaNode vol="80000">
                <p:cTn id="45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46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video>
              <p:cMediaNode vol="80000">
                <p:cTn id="47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  <p:bldLst>
      <p:bldP spid="17" grpId="0"/>
      <p:bldP spid="18" grpId="0" animBg="1"/>
      <p:bldP spid="20" grpId="0" animBg="1"/>
      <p:bldP spid="20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1C5597-DC50-E9A7-A9FD-7954C7B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Phase Separation Process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77058B9-56E0-E34F-3C6A-670A444A2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9" y="1690688"/>
            <a:ext cx="4976006" cy="306246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AF9D5FC5-F9F0-87AE-9FE6-3D611B6BEE5B}"/>
              </a:ext>
            </a:extLst>
          </p:cNvPr>
          <p:cNvSpPr txBox="1"/>
          <p:nvPr/>
        </p:nvSpPr>
        <p:spPr>
          <a:xfrm>
            <a:off x="6011471" y="2844960"/>
            <a:ext cx="26279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 dirty="0"/>
              <a:t>Special boundary: None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27B2E46-ADB0-9585-580C-F9A2882C8655}"/>
              </a:ext>
            </a:extLst>
          </p:cNvPr>
          <p:cNvSpPr txBox="1"/>
          <p:nvPr/>
        </p:nvSpPr>
        <p:spPr>
          <a:xfrm>
            <a:off x="5962650" y="1795550"/>
            <a:ext cx="51755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Idee: Phase separation initiates with the formation of small droplets or bubbles which progressively coalesce to form a larger droplet or bubble.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426D4A0-A0A2-75FF-3076-6F3E98A7A80E}"/>
              </a:ext>
            </a:extLst>
          </p:cNvPr>
          <p:cNvSpPr txBox="1"/>
          <p:nvPr/>
        </p:nvSpPr>
        <p:spPr>
          <a:xfrm>
            <a:off x="611420" y="1798908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8" name="Textfeld 9">
            <a:extLst>
              <a:ext uri="{FF2B5EF4-FFF2-40B4-BE49-F238E27FC236}">
                <a16:creationId xmlns:a16="http://schemas.microsoft.com/office/drawing/2014/main" id="{6AD808A0-80D4-57D9-FA73-1FD58EB86449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https://linkinghub.elsevier.com/retrieve/pii/S0997754618302103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211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5067B1-E003-4BFC-873C-79945770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Single Cavitating Bubble under Poiseuille Flow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5EE474E-B38C-FA9E-CB51-7EB4D7D5D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16" y="2009236"/>
            <a:ext cx="3972589" cy="340324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EBE5067-912D-1847-3DF3-8C29C791FEA3}"/>
              </a:ext>
            </a:extLst>
          </p:cNvPr>
          <p:cNvSpPr txBox="1"/>
          <p:nvPr/>
        </p:nvSpPr>
        <p:spPr>
          <a:xfrm>
            <a:off x="611420" y="1798908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6" name="Textfeld 9">
            <a:extLst>
              <a:ext uri="{FF2B5EF4-FFF2-40B4-BE49-F238E27FC236}">
                <a16:creationId xmlns:a16="http://schemas.microsoft.com/office/drawing/2014/main" id="{B8B770DD-4577-3FF3-10F7-04EDDFDF054D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https://linkinghub.elsevier.com/retrieve/pii/S0997754618302103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236DA37-E0E6-43CA-21F6-FB2BFC474C4D}"/>
              </a:ext>
            </a:extLst>
          </p:cNvPr>
          <p:cNvSpPr txBox="1"/>
          <p:nvPr/>
        </p:nvSpPr>
        <p:spPr>
          <a:xfrm>
            <a:off x="4822957" y="2034870"/>
            <a:ext cx="461703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 dirty="0"/>
              <a:t>Special boundary: Poiseuille Flow with top wall stationary</a:t>
            </a:r>
          </a:p>
        </p:txBody>
      </p:sp>
    </p:spTree>
    <p:extLst>
      <p:ext uri="{BB962C8B-B14F-4D97-AF65-F5344CB8AC3E}">
        <p14:creationId xmlns:p14="http://schemas.microsoft.com/office/powerpoint/2010/main" val="707362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BD9C82-9652-91F6-353B-96895B9B0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Bubble Nucleation and Boiling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AACA275-FD9A-DCC8-1F9A-4DA88975F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10" y="1639115"/>
            <a:ext cx="3218102" cy="211391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56856CD6-FAE8-FC7B-06B6-5ED5E6132866}"/>
              </a:ext>
            </a:extLst>
          </p:cNvPr>
          <p:cNvSpPr txBox="1"/>
          <p:nvPr/>
        </p:nvSpPr>
        <p:spPr>
          <a:xfrm>
            <a:off x="751973" y="1798908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6" name="Textfeld 9">
            <a:extLst>
              <a:ext uri="{FF2B5EF4-FFF2-40B4-BE49-F238E27FC236}">
                <a16:creationId xmlns:a16="http://schemas.microsoft.com/office/drawing/2014/main" id="{B7097DC9-A916-E8A9-F2A6-A520B1F00F5A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http://arxiv.org/abs/2205.00686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.		[2] https://www.mdpi.com/2311-5521/10/4/90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24C5B3B-DD69-02B5-AD93-8113DDCEC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0075" y="1565909"/>
            <a:ext cx="2239102" cy="2777348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4C7DD57-7833-F985-C01C-C39AD3CA450A}"/>
              </a:ext>
            </a:extLst>
          </p:cNvPr>
          <p:cNvSpPr txBox="1"/>
          <p:nvPr/>
        </p:nvSpPr>
        <p:spPr>
          <a:xfrm>
            <a:off x="4123061" y="4378639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[2]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486997B-6EA1-D38B-E7FC-39CA133A26E4}"/>
              </a:ext>
            </a:extLst>
          </p:cNvPr>
          <p:cNvSpPr txBox="1"/>
          <p:nvPr/>
        </p:nvSpPr>
        <p:spPr>
          <a:xfrm>
            <a:off x="7142439" y="1585812"/>
            <a:ext cx="26279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 dirty="0"/>
              <a:t>Special boundary: heating</a:t>
            </a:r>
          </a:p>
        </p:txBody>
      </p:sp>
    </p:spTree>
    <p:extLst>
      <p:ext uri="{BB962C8B-B14F-4D97-AF65-F5344CB8AC3E}">
        <p14:creationId xmlns:p14="http://schemas.microsoft.com/office/powerpoint/2010/main" val="1957002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6294B4-AD9A-C1CC-99EB-F360867C9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: Viscous Fingering + Hele-Shaw systems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AF3E462-5B5B-17CC-F119-DC4F17941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784" y="1566333"/>
            <a:ext cx="4046295" cy="314711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08DEC33-5282-A8AC-B344-0D3BE4D0A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495" y="1521995"/>
            <a:ext cx="1651356" cy="281538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29BE400-79BB-6441-D564-BDF3A36CC84F}"/>
              </a:ext>
            </a:extLst>
          </p:cNvPr>
          <p:cNvSpPr txBox="1"/>
          <p:nvPr/>
        </p:nvSpPr>
        <p:spPr>
          <a:xfrm>
            <a:off x="6775477" y="1521995"/>
            <a:ext cx="366459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Substance: two fluids with different viscosity 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</a:t>
            </a:r>
          </a:p>
          <a:p>
            <a:r>
              <a:rPr lang="en-US" sz="1400" dirty="0"/>
              <a:t>Special boundary: No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157942E-E45E-C563-29DF-2E966878F0F3}"/>
              </a:ext>
            </a:extLst>
          </p:cNvPr>
          <p:cNvSpPr txBox="1"/>
          <p:nvPr/>
        </p:nvSpPr>
        <p:spPr>
          <a:xfrm>
            <a:off x="6376192" y="4151081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9" name="Textfeld 9">
            <a:extLst>
              <a:ext uri="{FF2B5EF4-FFF2-40B4-BE49-F238E27FC236}">
                <a16:creationId xmlns:a16="http://schemas.microsoft.com/office/drawing/2014/main" id="{28032B88-8E29-EED4-362E-11B89054A5FF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https://www.worldscientific.com/doi/abs/10.1142/S0217979203017023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156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7AD6E9-94C5-49D9-8212-8A9366E4E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Two-Phase Flow Transport in Porous Medium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34340C3-8DE5-1D84-3E55-C9BED440B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09" y="1690688"/>
            <a:ext cx="3315660" cy="270572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19B65FC-77A2-126D-2A18-C3B788BB0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901" y="1784234"/>
            <a:ext cx="2778199" cy="203161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BAE5978-96CE-C135-05FC-043036D21579}"/>
              </a:ext>
            </a:extLst>
          </p:cNvPr>
          <p:cNvSpPr txBox="1"/>
          <p:nvPr/>
        </p:nvSpPr>
        <p:spPr>
          <a:xfrm>
            <a:off x="3736901" y="4160446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8" name="Textfeld 9">
            <a:extLst>
              <a:ext uri="{FF2B5EF4-FFF2-40B4-BE49-F238E27FC236}">
                <a16:creationId xmlns:a16="http://schemas.microsoft.com/office/drawing/2014/main" id="{1D470221-8597-6810-62FA-68250D730B3F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https://www.hindawi.com/journals/geofluids/2021/5668743/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		[2] https://linkinghub.elsevier.com/retrieve/pii/S0898122109006427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0E8A9D8-3173-1722-E97A-C5042370BA4C}"/>
              </a:ext>
            </a:extLst>
          </p:cNvPr>
          <p:cNvSpPr txBox="1"/>
          <p:nvPr/>
        </p:nvSpPr>
        <p:spPr>
          <a:xfrm>
            <a:off x="6775477" y="1521995"/>
            <a:ext cx="479473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Substance: two fluids with at high density/ viscosity ration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</a:t>
            </a:r>
          </a:p>
          <a:p>
            <a:r>
              <a:rPr lang="en-US" sz="1400" dirty="0"/>
              <a:t>Special boundary: porous medium (artificial geometry or realistic rock geometries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02CB468-2315-AFD5-48C5-C79ACA0489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623" y="4537383"/>
            <a:ext cx="1521298" cy="1769335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FC6F631C-E5BB-E801-64A4-FC4CBDD96A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7755" y="4489954"/>
            <a:ext cx="1721132" cy="190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534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269A8-0CD8-46CF-4769-B05490D14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Oxygen Removal from porous Layer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4268638-5F90-6CB9-6AF8-4BB10985B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690688"/>
            <a:ext cx="8331868" cy="165084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627094-1354-0877-DF90-3D6F5EDF6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42" y="3603130"/>
            <a:ext cx="6376737" cy="274030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8414861-858D-F7E3-2985-2EE8C18540C1}"/>
              </a:ext>
            </a:extLst>
          </p:cNvPr>
          <p:cNvSpPr txBox="1"/>
          <p:nvPr/>
        </p:nvSpPr>
        <p:spPr>
          <a:xfrm>
            <a:off x="518882" y="1690688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8" name="Textfeld 9">
            <a:extLst>
              <a:ext uri="{FF2B5EF4-FFF2-40B4-BE49-F238E27FC236}">
                <a16:creationId xmlns:a16="http://schemas.microsoft.com/office/drawing/2014/main" id="{8B78C82A-4F81-43CF-3A90-40E969BBF510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https://linkinghub.elsevier.com/retrieve/pii/S0009250924004408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92330F7-9C60-FC6C-12FC-46DABE4C5F1D}"/>
              </a:ext>
            </a:extLst>
          </p:cNvPr>
          <p:cNvSpPr txBox="1"/>
          <p:nvPr/>
        </p:nvSpPr>
        <p:spPr>
          <a:xfrm>
            <a:off x="8560468" y="3729886"/>
            <a:ext cx="29510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Substance: two fluids + two phases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liquid </a:t>
            </a:r>
          </a:p>
          <a:p>
            <a:r>
              <a:rPr lang="en-US" sz="1400" dirty="0"/>
              <a:t>Special boundary: No</a:t>
            </a:r>
          </a:p>
        </p:txBody>
      </p:sp>
    </p:spTree>
    <p:extLst>
      <p:ext uri="{BB962C8B-B14F-4D97-AF65-F5344CB8AC3E}">
        <p14:creationId xmlns:p14="http://schemas.microsoft.com/office/powerpoint/2010/main" val="3791613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477</Words>
  <Application>Microsoft Office PowerPoint</Application>
  <PresentationFormat>Breitbild</PresentationFormat>
  <Paragraphs>60</Paragraphs>
  <Slides>9</Slides>
  <Notes>0</Notes>
  <HiddenSlides>0</HiddenSlides>
  <MMClips>3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MicTherm – LBM Coupling Idea</vt:lpstr>
      <vt:lpstr>Example: Thermodynamic Consistency</vt:lpstr>
      <vt:lpstr>Example : Moving droplet 2D </vt:lpstr>
      <vt:lpstr>Example: Phase Separation Process </vt:lpstr>
      <vt:lpstr>Example: Single Cavitating Bubble under Poiseuille Flow</vt:lpstr>
      <vt:lpstr>Example: Bubble Nucleation and Boiling</vt:lpstr>
      <vt:lpstr>Example : Viscous Fingering + Hele-Shaw systems </vt:lpstr>
      <vt:lpstr>Example: Two-Phase Flow Transport in Porous Medium</vt:lpstr>
      <vt:lpstr>Example: Oxygen Removal from porous Layer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Zhang, Xueqi</dc:creator>
  <cp:lastModifiedBy>Zhang, Xueqi</cp:lastModifiedBy>
  <cp:revision>5</cp:revision>
  <dcterms:created xsi:type="dcterms:W3CDTF">2026-07-02T09:48:08Z</dcterms:created>
  <dcterms:modified xsi:type="dcterms:W3CDTF">2026-07-03T09:08:32Z</dcterms:modified>
</cp:coreProperties>
</file>